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50800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51460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800" b="1">
                <a:solidFill>
                  <a:srgbClr val="FDFDFC"/>
                </a:solidFill>
                <a:latin typeface="Segoe UI"/>
              </a:rPr>
              <a:t>HERD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4805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E9E6DD"/>
                </a:solidFill>
                <a:latin typeface="Segoe UI"/>
              </a:rPr>
              <a:t>An immune system for campus misinformation.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B4A8"/>
                </a:solidFill>
                <a:latin typeface="Segoe UI"/>
              </a:rPr>
              <a:t>It investigates a message the way a careful person would — cheapest checks first — and stops the moment it can honestly stop.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9893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spc="160">
                <a:solidFill>
                  <a:srgbClr val="8B8779"/>
                </a:solidFill>
                <a:latin typeface="Consolas"/>
              </a:rPr>
              <a:t>ECHO 2026  ·  “BUILD BY SUNSET”  ·  VNR VJIET × STUDENTALUMNI.AI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548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40">
                <a:solidFill>
                  <a:srgbClr val="8B8779"/>
                </a:solidFill>
                <a:latin typeface="Consolas"/>
              </a:rPr>
              <a:t>CLAIM · CASCADE · VERDICT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The rumour always beats the correction.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874519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148840"/>
            <a:ext cx="60350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7544A"/>
                </a:solidFill>
                <a:latin typeface="Segoe UI"/>
              </a:rPr>
              <a:t>A message lands in the class group: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12110C"/>
                </a:solidFill>
                <a:latin typeface="Segoe UI"/>
              </a:rPr>
              <a:t>“Amazon off-campus drive for the 2026 batch — register here, limited slots.”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7544A"/>
                </a:solidFill>
                <a:latin typeface="Segoe UI"/>
              </a:rPr>
              <a:t>It has a logo. It has a deadline. Forty people forward it before anyone checks. Some register. Some pay the ₹750 “registration fee.”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>
                <a:solidFill>
                  <a:srgbClr val="57544A"/>
                </a:solidFill>
                <a:latin typeface="Segoe UI"/>
              </a:rPr>
              <a:t>Three days later someone finally says: “guys, this is fake.”  Too late.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7544A"/>
                </a:solidFill>
                <a:latin typeface="Segoe UI"/>
              </a:rPr>
              <a:t>The same thing happens every week — exams postponed, fest cancelled, fee deadline extended, this company is hiring.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148840"/>
            <a:ext cx="4050791" cy="33832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2468880"/>
            <a:ext cx="3474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 spc="160">
                <a:solidFill>
                  <a:srgbClr val="8B8779"/>
                </a:solidFill>
                <a:latin typeface="Consolas"/>
              </a:rPr>
              <a:t>WHY IT HURTS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sz="2200" b="1">
                <a:solidFill>
                  <a:srgbClr val="A32017"/>
                </a:solidFill>
                <a:latin typeface="Segoe UI"/>
              </a:rPr>
              <a:t>Minutes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for a forward to reach the whole cohort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sz="2200" b="1">
                <a:solidFill>
                  <a:srgbClr val="A32017"/>
                </a:solidFill>
                <a:latin typeface="Segoe UI"/>
              </a:rPr>
              <a:t>Days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for a human correction to catch up</a:t>
            </a:r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100"/>
              </a:spcAft>
            </a:pPr>
            <a:r>
              <a:rPr sz="2200" b="1">
                <a:solidFill>
                  <a:srgbClr val="A32017"/>
                </a:solidFill>
                <a:latin typeface="Segoe UI"/>
              </a:rPr>
              <a:t>The people who get hurt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are the ones who never doubted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THE REFRAME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DFDFC"/>
                </a:solidFill>
                <a:latin typeface="Segoe UI"/>
              </a:rPr>
              <a:t>Treat a rumour as an infection,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A32017"/>
                </a:solidFill>
                <a:latin typeface="Segoe UI"/>
              </a:rPr>
              <a:t>not a document.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880360"/>
            <a:ext cx="10543032" cy="0"/>
          </a:xfrm>
          <a:prstGeom prst="bentConnector3">
            <a:avLst/>
          </a:prstGeom>
          <a:ln w="12700">
            <a:solidFill>
              <a:srgbClr val="3A38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1546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FCBC1"/>
                </a:solidFill>
                <a:latin typeface="Segoe UI"/>
              </a:rPr>
              <a:t>“Is this true?” is the easy question — and it always arrives too late, because the person who bothers to check was never the one at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104241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0" spc="120">
                <a:solidFill>
                  <a:srgbClr val="8B8779"/>
                </a:solidFill>
                <a:latin typeface="Consolas"/>
              </a:rPr>
              <a:t>The useful question: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DFDFC"/>
                </a:solidFill>
                <a:latin typeface="Segoe UI"/>
              </a:rPr>
              <a:t>How fast is this spreading, who hasn’t been reached yet, and can I get there first?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68A"/>
                </a:solidFill>
                <a:latin typeface="Segoe UI"/>
              </a:rPr>
              <a:t>That is an interception problem, not a classification problem. Epidemiology, not fact-checking.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WHAT HERD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One suspicious message in.
A cited, honest verdict out.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331720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2697480"/>
            <a:ext cx="2587752" cy="288036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697480"/>
            <a:ext cx="2587752" cy="508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926080"/>
            <a:ext cx="207568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spc="100">
                <a:solidFill>
                  <a:srgbClr val="8B8779"/>
                </a:solidFill>
                <a:latin typeface="Consolas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2110C"/>
                </a:solidFill>
                <a:latin typeface="Segoe UI"/>
              </a:rPr>
              <a:t>Perceive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OCR + claim extraction. Turns a messy, code-mixed Telugu/Hindi/English screenshot into a structured, falsifiable claim.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65576" y="2697480"/>
            <a:ext cx="2587752" cy="288036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2697480"/>
            <a:ext cx="2587752" cy="508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2926080"/>
            <a:ext cx="207568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spc="100">
                <a:solidFill>
                  <a:srgbClr val="8B8779"/>
                </a:solidFill>
                <a:latin typeface="Consolas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2110C"/>
                </a:solidFill>
                <a:latin typeface="Segoe UI"/>
              </a:rPr>
              <a:t>Recognise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Strain matching. Already seen — here or at any campus? Answer instantly from memory instead of re-investigating.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08192" y="2697480"/>
            <a:ext cx="2587752" cy="288036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08192" y="2697480"/>
            <a:ext cx="2587752" cy="508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2926080"/>
            <a:ext cx="207568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spc="100">
                <a:solidFill>
                  <a:srgbClr val="8B8779"/>
                </a:solidFill>
                <a:latin typeface="Consolas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2110C"/>
                </a:solidFill>
                <a:latin typeface="Segoe UI"/>
              </a:rPr>
              <a:t>Investigate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A four-tier cascade of specialist agents that return cited evidence, cheapest checks first, exiting early when it can.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50808" y="2697480"/>
            <a:ext cx="2587752" cy="288036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50808" y="2697480"/>
            <a:ext cx="2587752" cy="508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2926080"/>
            <a:ext cx="2075688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spc="100">
                <a:solidFill>
                  <a:srgbClr val="8B8779"/>
                </a:solidFill>
                <a:latin typeface="Consolas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000" b="1">
                <a:solidFill>
                  <a:srgbClr val="12110C"/>
                </a:solidFill>
                <a:latin typeface="Segoe UI"/>
              </a:rPr>
              <a:t>Judge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Deterministic log-odds aggregation sets the verdict and a confidence. The model only writes the prose.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THE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A cascade that spends the least
evidence it can get away with.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7544A"/>
                </a:solidFill>
                <a:latin typeface="Segoe UI"/>
              </a:rPr>
              <a:t>Cheapest checks first. The cascade exits the moment a tier settles it — asymmetrically, because being wrong about a real notice costs more than one extra check.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97480"/>
            <a:ext cx="50800" cy="786384"/>
          </a:xfrm>
          <a:prstGeom prst="rect">
            <a:avLst/>
          </a:prstGeom>
          <a:solidFill>
            <a:srgbClr val="14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679192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624A"/>
                </a:solidFill>
                <a:latin typeface="Consolas"/>
              </a:rPr>
              <a:t>T0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67004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Wording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20">
                <a:solidFill>
                  <a:srgbClr val="8B8779"/>
                </a:solidFill>
                <a:latin typeface="Consolas"/>
              </a:rPr>
              <a:t>COSTS NOTHING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679192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Pressure, payment shape, template lineage. FraudHeuristics · TemplateProvenance · StrainPrior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93592"/>
            <a:ext cx="50800" cy="786384"/>
          </a:xfrm>
          <a:prstGeom prst="rect">
            <a:avLst/>
          </a:prstGeom>
          <a:solidFill>
            <a:srgbClr val="14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75304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4624A"/>
                </a:solidFill>
                <a:latin typeface="Consolas"/>
              </a:rPr>
              <a:t>T1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56616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Infrastructure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20">
                <a:solidFill>
                  <a:srgbClr val="8B8779"/>
                </a:solidFill>
                <a:latin typeface="Consolas"/>
              </a:rPr>
              <a:t>CHEAP PROBES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575304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Domains, links and contact details vs. what the campus actually publishes. DomainForensics · URLSafety · ContactForensics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489704"/>
            <a:ext cx="50800" cy="786384"/>
          </a:xfrm>
          <a:prstGeom prst="rect">
            <a:avLst/>
          </a:prstGeom>
          <a:solidFill>
            <a:srgbClr val="A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471416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56A00"/>
                </a:solidFill>
                <a:latin typeface="Consolas"/>
              </a:rPr>
              <a:t>T2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4462272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Official record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20">
                <a:solidFill>
                  <a:srgbClr val="8B8779"/>
                </a:solidFill>
                <a:latin typeface="Consolas"/>
              </a:rPr>
              <a:t>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471416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The only tier allowed to confirm a claim is genuine. InstitutionalSource · OfficialChannel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385816"/>
            <a:ext cx="50800" cy="786384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536752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32017"/>
                </a:solidFill>
                <a:latin typeface="Consolas"/>
              </a:rPr>
              <a:t>T3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48840" y="5358384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Open web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spc="120">
                <a:solidFill>
                  <a:srgbClr val="8B8779"/>
                </a:solidFill>
                <a:latin typeface="Consolas"/>
              </a:rPr>
              <a:t>TERMINAL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367528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Bought only when everything cheaper had to abstain. OpenWebResearch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THE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Agents return evidence, never verdicts.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874519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148840"/>
            <a:ext cx="5120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Two contracts, enforced at the type level: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2110C"/>
                </a:solidFill>
                <a:latin typeface="Segoe UI"/>
              </a:rPr>
              <a:t>Cite or stay silent.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1400"/>
              </a:spcAft>
            </a:pPr>
            <a:r>
              <a:rPr sz="1350" b="0">
                <a:solidFill>
                  <a:srgbClr val="57544A"/>
                </a:solidFill>
                <a:latin typeface="Segoe UI"/>
              </a:rPr>
              <a:t>A non-neutral finding is rejected unless it carries at least one source. An uncited assertion cannot physically exist.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2110C"/>
                </a:solidFill>
                <a:latin typeface="Segoe UI"/>
              </a:rPr>
              <a:t>TRUE requires confirmation.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7544A"/>
                </a:solidFill>
                <a:latin typeface="Segoe UI"/>
              </a:rPr>
              <a:t>Absence of fraud indicators is not evidence of authenticity — it is equally consistent with a well-made scam. Only a confirming source can say “genuine.”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148840"/>
            <a:ext cx="5056632" cy="36576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2468880"/>
            <a:ext cx="443484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100" b="1" spc="160">
                <a:solidFill>
                  <a:srgbClr val="8B8779"/>
                </a:solidFill>
                <a:latin typeface="Consolas"/>
              </a:rPr>
              <a:t>WHO DECIDES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DFDFC"/>
                </a:solidFill>
                <a:latin typeface="Segoe UI"/>
              </a:rPr>
              <a:t>The verdict is arithmetic.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>
                <a:solidFill>
                  <a:srgbClr val="C6C2B8"/>
                </a:solidFill>
                <a:latin typeface="Segoe UI"/>
              </a:rPr>
              <a:t>Evidence is combined in log-odds by a deterministic aggregator with calibrated constants. The system produces a verdict with no network and no language model at all.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A32017"/>
                </a:solidFill>
                <a:latin typeface="Segoe UI"/>
              </a:rPr>
              <a:t>The LLM only writes the prose.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68A"/>
                </a:solidFill>
                <a:latin typeface="Segoe UI"/>
              </a:rPr>
              <a:t>“The judgement is not generated. The sentence explaining it is.”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HOW A VERDICT IS REACHED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Belief moves in log-odds, band to band.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7544A"/>
                </a:solidFill>
                <a:latin typeface="Segoe UI"/>
              </a:rPr>
              <a:t>Every investigation is a path: a prior, then each tier nudging belief left (genuine) or right (fabricated), landing in one of four bands.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246120"/>
            <a:ext cx="2046732" cy="457200"/>
          </a:xfrm>
          <a:prstGeom prst="rect">
            <a:avLst/>
          </a:prstGeom>
          <a:solidFill>
            <a:srgbClr val="146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13048"/>
            <a:ext cx="2084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00">
                <a:solidFill>
                  <a:srgbClr val="14624A"/>
                </a:solidFill>
                <a:latin typeface="Consolas"/>
              </a:rPr>
              <a:t>CONFIRMED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953512" y="3246120"/>
            <a:ext cx="4652772" cy="457200"/>
          </a:xfrm>
          <a:prstGeom prst="rect">
            <a:avLst/>
          </a:prstGeom>
          <a:solidFill>
            <a:srgbClr val="555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3512" y="3813048"/>
            <a:ext cx="4690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00">
                <a:solidFill>
                  <a:srgbClr val="55524A"/>
                </a:solidFill>
                <a:latin typeface="Consolas"/>
              </a:rPr>
              <a:t>NO CLAIM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44384" y="3246120"/>
            <a:ext cx="2567940" cy="457200"/>
          </a:xfrm>
          <a:prstGeom prst="rect">
            <a:avLst/>
          </a:prstGeom>
          <a:solidFill>
            <a:srgbClr val="A5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44384" y="3813048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00">
                <a:solidFill>
                  <a:srgbClr val="A56A00"/>
                </a:solidFill>
                <a:latin typeface="Consolas"/>
              </a:rPr>
              <a:t>DISTORTED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50424" y="3246120"/>
            <a:ext cx="1004316" cy="457200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50424" y="3813048"/>
            <a:ext cx="10424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00">
                <a:solidFill>
                  <a:srgbClr val="A32017"/>
                </a:solidFill>
                <a:latin typeface="Consolas"/>
              </a:rPr>
              <a:t>FABRICATED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7136" y="2926080"/>
            <a:ext cx="25400" cy="1097280"/>
          </a:xfrm>
          <a:prstGeom prst="rect">
            <a:avLst/>
          </a:prstGeom>
          <a:solidFill>
            <a:srgbClr val="8B87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68496" y="26060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8B8779"/>
                </a:solidFill>
                <a:latin typeface="Consolas"/>
              </a:rPr>
              <a:t>PRIOR 0.35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23752" y="2926080"/>
            <a:ext cx="50800" cy="1097280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09352" y="260604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A32017"/>
                </a:solidFill>
                <a:latin typeface="Consolas"/>
              </a:rPr>
              <a:t>0.998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5488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Why log-odds?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57544A"/>
                </a:solidFill>
                <a:latin typeface="Segoe UI"/>
              </a:rPr>
              <a:t>On a linear probability axis, 0.94 → 0.998 looks like a rounding error. In log-odds — the scale the aggregator actually adds evidence on — it is more evidence than everything before it combined. The UI plots the real thing, so the judgement reads as a judgement, not a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WHY IT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The wider an attack spreads, the cheaper
it becomes to neutralise.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331720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60604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57544A"/>
                </a:solidFill>
                <a:latin typeface="Segoe UI"/>
              </a:rPr>
              <a:t>Scams scale by repetition — the same template, resent forever. HERD turns that strength into a weakness. Report #1 costs a full investigation; reports #2–#4000 cost a lookup. One student’s investigation becomes permanent immunity for everyone who follows.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886200"/>
            <a:ext cx="3392424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14800"/>
            <a:ext cx="284378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2110C"/>
                </a:solidFill>
                <a:latin typeface="Segoe UI"/>
              </a:rPr>
              <a:t>Strain memory is global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A template that cost one campus a full investigation is recognised instantly at the next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8264" y="3886200"/>
            <a:ext cx="3392424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4114800"/>
            <a:ext cx="284378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12110C"/>
                </a:solidFill>
                <a:latin typeface="Segoe UI"/>
              </a:rPr>
              <a:t>Evidence is scoped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Each campus’s verdict is still derived from its own notice board, its own official channels. Share the pattern, scope the proof.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3886200"/>
            <a:ext cx="3392424" cy="210312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4114800"/>
            <a:ext cx="2843784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1">
                <a:solidFill>
                  <a:srgbClr val="A32017"/>
                </a:solidFill>
                <a:latin typeface="Segoe UI"/>
              </a:rPr>
              <a:t>Cold-start inverts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HERD is most valuable to the newest institution — it arrives carrying everyone else’s accumulated immunity.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LIVE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DFDFC"/>
                </a:solidFill>
                <a:latin typeface="Segoe UI"/>
              </a:rPr>
              <a:t>A real scam, judged in ~1.2 seconds.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6C2B8"/>
                </a:solidFill>
                <a:latin typeface="Segoe UI"/>
              </a:rPr>
              <a:t>“URGENT!! Placement drive registration closing TODAY. Pay ₹5000 to secure your slot… Register at vnrvjiet-placements.online. Forward to all your groups.”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80360"/>
            <a:ext cx="4937760" cy="3108960"/>
          </a:xfrm>
          <a:prstGeom prst="rect">
            <a:avLst/>
          </a:prstGeom>
          <a:solidFill>
            <a:srgbClr val="1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80360"/>
            <a:ext cx="4937760" cy="63500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4805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spc="160">
                <a:solidFill>
                  <a:srgbClr val="8B8779"/>
                </a:solidFill>
                <a:latin typeface="Consolas"/>
              </a:rPr>
              <a:t>VERDICT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>
                <a:solidFill>
                  <a:srgbClr val="A32017"/>
                </a:solidFill>
                <a:latin typeface="Segoe UI"/>
              </a:rPr>
              <a:t>Fabricated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sz="1300" b="0">
                <a:solidFill>
                  <a:srgbClr val="C6C2B8"/>
                </a:solidFill>
                <a:latin typeface="Consolas"/>
              </a:rPr>
              <a:t>FALSE · posterior 0.998 · confidence 0.99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68A"/>
                </a:solidFill>
                <a:latin typeface="Segoe UI"/>
              </a:rPr>
              <a:t>4 tiers ran · 0 left unbought · all 9 agents returned evidence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89320" y="2880360"/>
            <a:ext cx="5376672" cy="3108960"/>
          </a:xfrm>
          <a:prstGeom prst="rect">
            <a:avLst/>
          </a:prstGeom>
          <a:solidFill>
            <a:srgbClr val="1B1A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10896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100" b="1" spc="160">
                <a:solidFill>
                  <a:srgbClr val="8B8779"/>
                </a:solidFill>
                <a:latin typeface="Consolas"/>
              </a:rPr>
              <a:t>WHAT SPOKE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DFDFC"/>
                </a:solidFill>
                <a:latin typeface="Consolas"/>
              </a:rPr>
              <a:t>FraudHeuristics  </a:t>
            </a:r>
            <a:r>
              <a:rPr sz="1200">
                <a:solidFill>
                  <a:srgbClr val="B0ACA0"/>
                </a:solidFill>
                <a:latin typeface="Segoe UI"/>
              </a:rPr>
              <a:t>upfront fee · personal UPI · &lt;48h deadline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DFDFC"/>
                </a:solidFill>
                <a:latin typeface="Consolas"/>
              </a:rPr>
              <a:t>DomainForensics  </a:t>
            </a:r>
            <a:r>
              <a:rPr sz="1200">
                <a:solidFill>
                  <a:srgbClr val="B0ACA0"/>
                </a:solidFill>
                <a:latin typeface="Segoe UI"/>
              </a:rPr>
              <a:t>look-alike domain, not a campus domain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DFDFC"/>
                </a:solidFill>
                <a:latin typeface="Consolas"/>
              </a:rPr>
              <a:t>InstitutionalSource  </a:t>
            </a:r>
            <a:r>
              <a:rPr sz="1200">
                <a:solidFill>
                  <a:srgbClr val="B0ACA0"/>
                </a:solidFill>
                <a:latin typeface="Segoe UI"/>
              </a:rPr>
              <a:t>no matching notice on any official source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FDFDFC"/>
                </a:solidFill>
                <a:latin typeface="Consolas"/>
              </a:rPr>
              <a:t>OfficialChannel  </a:t>
            </a:r>
            <a:r>
              <a:rPr sz="1200">
                <a:solidFill>
                  <a:srgbClr val="B0ACA0"/>
                </a:solidFill>
                <a:latin typeface="Segoe UI"/>
              </a:rPr>
              <a:t>no matching broadcast on any channel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WHERE IT STANDS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Measured, not estimated.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783080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2148840"/>
            <a:ext cx="3392424" cy="17830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50008"/>
            <a:ext cx="2843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624A"/>
                </a:solidFill>
                <a:latin typeface="Consolas"/>
              </a:rPr>
              <a:t>198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tests passing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8779"/>
                </a:solidFill>
                <a:latin typeface="Segoe UI"/>
              </a:rPr>
              <a:t>0 failing · ~35s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148840"/>
            <a:ext cx="3392424" cy="17830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72584" y="2350008"/>
            <a:ext cx="2843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624A"/>
                </a:solidFill>
                <a:latin typeface="Consolas"/>
              </a:rPr>
              <a:t>9 / 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agents live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8779"/>
                </a:solidFill>
                <a:latin typeface="Segoe UI"/>
              </a:rPr>
              <a:t>returning real evidence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73568" y="2148840"/>
            <a:ext cx="3392424" cy="17830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2350008"/>
            <a:ext cx="2843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A32017"/>
                </a:solidFill>
                <a:latin typeface="Consolas"/>
              </a:rPr>
              <a:t>13 / 18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scams caught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8779"/>
                </a:solidFill>
                <a:latin typeface="Segoe UI"/>
              </a:rPr>
              <a:t>as FALSE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14800"/>
            <a:ext cx="3392424" cy="17830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315968"/>
            <a:ext cx="2843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4624A"/>
                </a:solidFill>
                <a:latin typeface="Consolas"/>
              </a:rPr>
              <a:t>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genuine notices libelled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8779"/>
                </a:solidFill>
                <a:latin typeface="Segoe UI"/>
              </a:rPr>
              <a:t>safety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4" y="4114800"/>
            <a:ext cx="3392424" cy="17830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4315968"/>
            <a:ext cx="2843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2110C"/>
                </a:solidFill>
                <a:latin typeface="Consolas"/>
              </a:rPr>
              <a:t>~1.2s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warm investigation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8779"/>
                </a:solidFill>
                <a:latin typeface="Segoe UI"/>
              </a:rPr>
              <a:t>all four 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8" y="4114800"/>
            <a:ext cx="3392424" cy="1783080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4315968"/>
            <a:ext cx="2843784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A56A00"/>
                </a:solidFill>
                <a:latin typeface="Consolas"/>
              </a:rPr>
              <a:t>38%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12110C"/>
                </a:solidFill>
                <a:latin typeface="Segoe UI"/>
              </a:rPr>
              <a:t>exact-label match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8B8779"/>
                </a:solidFill>
                <a:latin typeface="Segoe UI"/>
              </a:rPr>
              <a:t>100% correct-or-abstain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Read the 38% correctly: every remaining case is an honest abstention, not a harmful mistake. Zero genuine notices are ever accused.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ENGINEERING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The parts a demo doesn’t show.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874519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2194560"/>
            <a:ext cx="50800" cy="173736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94560"/>
            <a:ext cx="48097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No numeric literal in app/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Every tunable lives in a config file; an AST test fails the build if a constant is hard-coded — so the calibrated numbers are genuinely derived, not hand-tuned in place.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1344" y="2194560"/>
            <a:ext cx="50800" cy="173736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7376" y="2194560"/>
            <a:ext cx="48097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The calibrator is honest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It ranks settings by worst-case safety margin, reports its trade-offs, and re-derives the constants from the corpus. We fixed its objective, not the number it emits.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251959"/>
            <a:ext cx="50800" cy="173736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251959"/>
            <a:ext cx="48097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Institution-neutral by law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A linter forbids any campus string in app/ or web/. A new campus is one YAML file — zero code changes.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1344" y="4251959"/>
            <a:ext cx="50800" cy="173736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4251959"/>
            <a:ext cx="4809744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1">
                <a:solidFill>
                  <a:srgbClr val="12110C"/>
                </a:solidFill>
                <a:latin typeface="Segoe UI"/>
              </a:rPr>
              <a:t>29 architecture decisions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7544A"/>
                </a:solidFill>
                <a:latin typeface="Segoe UI"/>
              </a:rPr>
              <a:t>Every significant fork is recorded with the options considered and the consequences accepted. Three were written mid-build, because measurement contradicted the design.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TRUST &amp;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Report-driven. Consent-based.
It never watches anyone.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2514600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28346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57544A"/>
                </a:solidFill>
                <a:latin typeface="Segoe UI"/>
              </a:rPr>
              <a:t>HERD never reads a group, never joins a chat, never monitors anyone. It only ever sees what a human explicitly hands it — intercepting a habit that already exists, since people already forward a suspicious message to a friend asking “is this real?”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14800"/>
            <a:ext cx="3392424" cy="1874519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315968"/>
            <a:ext cx="284378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14624A"/>
                </a:solidFill>
                <a:latin typeface="Segoe UI"/>
              </a:rPr>
              <a:t>Redacted on arrival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Phone numbers and UPI handles are masked before anything is stored — but the handle’s provider survives, because it is evidence.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98264" y="4114800"/>
            <a:ext cx="3392424" cy="1874519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72584" y="4315968"/>
            <a:ext cx="284378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14624A"/>
                </a:solidFill>
                <a:latin typeface="Segoe UI"/>
              </a:rPr>
              <a:t>Pseudonymous by salt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Reporters are a rotating hash, never an identity. There is nothing to de-anonymise.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73568" y="4114800"/>
            <a:ext cx="3392424" cy="1874519"/>
          </a:xfrm>
          <a:prstGeom prst="rect">
            <a:avLst/>
          </a:prstGeom>
          <a:solidFill>
            <a:srgbClr val="FCFBF8"/>
          </a:solidFill>
          <a:ln w="12700">
            <a:solidFill>
              <a:srgbClr val="DFDB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47888" y="4315968"/>
            <a:ext cx="284378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14624A"/>
                </a:solidFill>
                <a:latin typeface="Segoe UI"/>
              </a:rPr>
              <a:t>Offline-first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57544A"/>
                </a:solidFill>
                <a:latin typeface="Segoe UI"/>
              </a:rPr>
              <a:t>The verdict is produced with no network and no LLM. Nothing is required to leave the machine.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200">
                <a:solidFill>
                  <a:srgbClr val="8B8779"/>
                </a:solidFill>
                <a:latin typeface="Consolas"/>
              </a:rPr>
              <a:t>HONEST LIMITATIONS &amp;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2110C"/>
                </a:solidFill>
                <a:latin typeface="Segoe UI"/>
              </a:rPr>
              <a:t>What we’d build after sunset.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22960" y="1874519"/>
            <a:ext cx="10543032" cy="0"/>
          </a:xfrm>
          <a:prstGeom prst="bentConnector3">
            <a:avLst/>
          </a:prstGeom>
          <a:ln w="12700">
            <a:solidFill>
              <a:srgbClr val="DFDBC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822960" y="2185416"/>
            <a:ext cx="128016" cy="128016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03120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2110C"/>
                </a:solidFill>
                <a:latin typeface="Segoe UI"/>
              </a:rPr>
              <a:t>Confirmation coverage — </a:t>
            </a:r>
            <a:r>
              <a:rPr sz="1350">
                <a:solidFill>
                  <a:srgbClr val="57544A"/>
                </a:solidFill>
                <a:latin typeface="Segoe UI"/>
              </a:rPr>
              <a:t>Tier 2 is what turns abstentions into confirmed TRUE. More official sources per campus directly lifts the exact-match rate — the current gap is missing confirmers, not wrong verdicts.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172968"/>
            <a:ext cx="128016" cy="128016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3090672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2110C"/>
                </a:solidFill>
                <a:latin typeface="Segoe UI"/>
              </a:rPr>
              <a:t>Pre-bunk delivery loop — </a:t>
            </a:r>
            <a:r>
              <a:rPr sz="1350">
                <a:solidFill>
                  <a:srgbClr val="57544A"/>
                </a:solidFill>
                <a:latin typeface="Segoe UI"/>
              </a:rPr>
              <a:t>The inoculation card is generated; wiring it to a real admin broadcast closes the interception loop the whole thesis rests 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128016" cy="128016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078224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2110C"/>
                </a:solidFill>
                <a:latin typeface="Segoe UI"/>
              </a:rPr>
              <a:t>Cassette-backed demo — </a:t>
            </a:r>
            <a:r>
              <a:rPr sz="1350">
                <a:solidFill>
                  <a:srgbClr val="57544A"/>
                </a:solidFill>
                <a:latin typeface="Segoe UI"/>
              </a:rPr>
              <a:t>Record/replay of the network tier so the live run is deterministic and offline, immune to rate limits on stage.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5148072"/>
            <a:ext cx="128016" cy="128016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5065776"/>
            <a:ext cx="101498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500" b="1">
                <a:solidFill>
                  <a:srgbClr val="12110C"/>
                </a:solidFill>
                <a:latin typeface="Segoe UI"/>
              </a:rPr>
              <a:t>Cross-campus network — </a:t>
            </a:r>
            <a:r>
              <a:rPr sz="1350">
                <a:solidFill>
                  <a:srgbClr val="57544A"/>
                </a:solidFill>
                <a:latin typeface="Segoe UI"/>
              </a:rPr>
              <a:t>Onboard a second institution and demonstrate a strain caught at campus B the instant it was investigated at campus 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1908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spc="80">
                <a:solidFill>
                  <a:srgbClr val="8B8779"/>
                </a:solidFill>
                <a:latin typeface="Consolas"/>
              </a:rPr>
              <a:t>HERD  ·  an immune system for campus misinformation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8779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03120"/>
            <a:ext cx="1280160" cy="50800"/>
          </a:xfrm>
          <a:prstGeom prst="rect">
            <a:avLst/>
          </a:prstGeom>
          <a:solidFill>
            <a:srgbClr val="A32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6384" y="2286000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FDFDFC"/>
                </a:solidFill>
                <a:latin typeface="Segoe UI"/>
              </a:rPr>
              <a:t>HERD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8620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2600" b="1">
                <a:solidFill>
                  <a:srgbClr val="FDFDFC"/>
                </a:solidFill>
                <a:latin typeface="Segoe UI"/>
              </a:rPr>
              <a:t>Not a fact-checker. An immune system.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B8B4A8"/>
                </a:solidFill>
                <a:latin typeface="Segoe UI"/>
              </a:rPr>
              <a:t>It reads the message, spends the least evidence it can, cites everything, and tells you when it doesn’t know.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5577840"/>
            <a:ext cx="10515600" cy="0"/>
          </a:xfrm>
          <a:prstGeom prst="bentConnector3">
            <a:avLst/>
          </a:prstGeom>
          <a:ln w="12700">
            <a:solidFill>
              <a:srgbClr val="3A383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41248" y="576072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spc="60">
                <a:solidFill>
                  <a:srgbClr val="9A968A"/>
                </a:solidFill>
                <a:latin typeface="Consolas"/>
              </a:rPr>
              <a:t>github.com/thirumani-vihaan/hackathon   ·   198 tests · 9/9 agents · 0 harmful   ·   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